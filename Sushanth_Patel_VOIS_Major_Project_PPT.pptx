
<file path=[Content_Types].xml><?xml version="1.0" encoding="utf-8"?>
<Types xmlns="http://schemas.openxmlformats.org/package/2006/content-types">
  <Default Extension="jfif"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9/7/2026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9/7/2026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9/7/2026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9/7/2026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9/7/2026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839754" y="3655498"/>
            <a:ext cx="2052735" cy="414962"/>
          </a:xfrm>
        </p:spPr>
        <p:txBody>
          <a:bodyPr vert="horz" lIns="91440" tIns="45720" rIns="91440" bIns="45720" rtlCol="0" anchor="t">
            <a:noAutofit/>
          </a:bodyPr>
          <a:lstStyle/>
          <a:p>
            <a:pPr algn="r"/>
            <a:r>
              <a:rPr lang="en-US" b="0" dirty="0">
                <a:solidFill>
                  <a:schemeClr val="tx1"/>
                </a:solidFill>
                <a:latin typeface="Times New Roman" panose="02020603050405020304" pitchFamily="18" charset="0"/>
                <a:cs typeface="Times New Roman" panose="02020603050405020304" pitchFamily="18" charset="0"/>
              </a:rPr>
              <a:t> Sushanth Patel</a:t>
            </a:r>
            <a:endParaRPr lang="en-IN" b="0" dirty="0">
              <a:solidFill>
                <a:schemeClr val="tx1"/>
              </a:solidFill>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5957" y="2840584"/>
            <a:ext cx="9575979" cy="743448"/>
          </a:xfrm>
        </p:spPr>
        <p:txBody>
          <a:bodyPr>
            <a:normAutofit/>
          </a:bodyPr>
          <a:lstStyle/>
          <a:p>
            <a:r>
              <a:rPr lang="en-IN" sz="3200" b="1" dirty="0">
                <a:latin typeface="Times New Roman" panose="02020603050405020304" pitchFamily="18" charset="0"/>
                <a:cs typeface="Times New Roman" panose="02020603050405020304" pitchFamily="18" charset="0"/>
              </a:rPr>
              <a:t>Seasonal Agriculture Performance Analysis </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1194319" y="4499277"/>
            <a:ext cx="5518040"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STU67d1c78af2dc11741801354</a:t>
            </a:r>
            <a:endParaRPr lang="en-US" sz="20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0F184F25-67EF-33D5-40C1-D9540691319B}"/>
              </a:ext>
            </a:extLst>
          </p:cNvPr>
          <p:cNvSpPr txBox="1"/>
          <p:nvPr/>
        </p:nvSpPr>
        <p:spPr>
          <a:xfrm>
            <a:off x="1194319" y="4042536"/>
            <a:ext cx="8742784"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Malla Reddy Engineering College And Management Sciences (MREM)</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buClr>
                <a:schemeClr val="tx1"/>
              </a:buClr>
            </a:pPr>
            <a:r>
              <a:rPr lang="en-IN" sz="2800" dirty="0">
                <a:latin typeface="Times New Roman" panose="02020603050405020304" pitchFamily="18" charset="0"/>
                <a:cs typeface="Times New Roman" panose="02020603050405020304" pitchFamily="18" charset="0"/>
              </a:rPr>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t>
            </a:r>
            <a:r>
              <a:rPr lang="en-IN" sz="2800" dirty="0" err="1">
                <a:latin typeface="Times New Roman" panose="02020603050405020304" pitchFamily="18" charset="0"/>
                <a:cs typeface="Times New Roman" panose="02020603050405020304" pitchFamily="18" charset="0"/>
              </a:rPr>
              <a:t>analyze</a:t>
            </a:r>
            <a:r>
              <a:rPr lang="en-IN" sz="2800" dirty="0">
                <a:latin typeface="Times New Roman" panose="02020603050405020304" pitchFamily="18" charset="0"/>
                <a:cs typeface="Times New Roman" panose="02020603050405020304" pitchFamily="18" charset="0"/>
              </a:rPr>
              <a:t> the given agricultural dataset and investigate seasonal differences in agricultural performance by identifying meaningful patterns, trends, relationships and variations within the available data.</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latin typeface="Times New Roman" panose="02020603050405020304" pitchFamily="18" charset="0"/>
                <a:cs typeface="Times New Roman" panose="02020603050405020304" pitchFamily="18" charset="0"/>
              </a:rPr>
              <a:t>PROBLEM  STATEMENT</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latin typeface="Times New Roman" panose="02020603050405020304" pitchFamily="18" charset="0"/>
                <a:cs typeface="Times New Roman" panose="02020603050405020304" pitchFamily="18" charset="0"/>
              </a:rPr>
              <a:t>Project Description</a:t>
            </a:r>
            <a:br>
              <a:rPr lang="en-GB" dirty="0">
                <a:latin typeface="Times New Roman" panose="02020603050405020304" pitchFamily="18" charset="0"/>
                <a:cs typeface="Times New Roman" panose="02020603050405020304" pitchFamily="18" charset="0"/>
              </a:rPr>
            </a:br>
            <a:br>
              <a:rPr lang="en-GB"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4" name="TextBox 3">
            <a:extLst>
              <a:ext uri="{FF2B5EF4-FFF2-40B4-BE49-F238E27FC236}">
                <a16:creationId xmlns:a16="http://schemas.microsoft.com/office/drawing/2014/main" id="{0DB38DFA-D696-6E68-1879-AB8C1D79CE29}"/>
              </a:ext>
            </a:extLst>
          </p:cNvPr>
          <p:cNvSpPr txBox="1"/>
          <p:nvPr/>
        </p:nvSpPr>
        <p:spPr>
          <a:xfrm>
            <a:off x="660399" y="1959359"/>
            <a:ext cx="8698205" cy="4093428"/>
          </a:xfrm>
          <a:prstGeom prst="rect">
            <a:avLst/>
          </a:prstGeom>
          <a:noFill/>
        </p:spPr>
        <p:txBody>
          <a:bodyPr wrap="square">
            <a:spAutoFit/>
          </a:bodyPr>
          <a:lstStyle/>
          <a:p>
            <a:pPr marL="342900" indent="-342900">
              <a:buClr>
                <a:schemeClr val="tx1"/>
              </a:buClr>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The Seasonal Agriculture Performance Analysis project focuses on </a:t>
            </a:r>
            <a:r>
              <a:rPr lang="en-IN" sz="2000" dirty="0" err="1">
                <a:latin typeface="Times New Roman" panose="02020603050405020304" pitchFamily="18" charset="0"/>
                <a:cs typeface="Times New Roman" panose="02020603050405020304" pitchFamily="18" charset="0"/>
              </a:rPr>
              <a:t>analyzing</a:t>
            </a:r>
            <a:r>
              <a:rPr lang="en-IN" sz="2000" dirty="0">
                <a:latin typeface="Times New Roman" panose="02020603050405020304" pitchFamily="18" charset="0"/>
                <a:cs typeface="Times New Roman" panose="02020603050405020304" pitchFamily="18" charset="0"/>
              </a:rPr>
              <a:t> agricultural data across different seasons, geographical areas, and farming conditions. The dataset contains information on farming practices, environmental conditions, crop production, resource usage, and economic </a:t>
            </a:r>
            <a:r>
              <a:rPr lang="en-IN" sz="2000" dirty="0" err="1">
                <a:latin typeface="Times New Roman" panose="02020603050405020304" pitchFamily="18" charset="0"/>
                <a:cs typeface="Times New Roman" panose="02020603050405020304" pitchFamily="18" charset="0"/>
              </a:rPr>
              <a:t>performance.The</a:t>
            </a:r>
            <a:r>
              <a:rPr lang="en-IN" sz="2000" dirty="0">
                <a:latin typeface="Times New Roman" panose="02020603050405020304" pitchFamily="18" charset="0"/>
                <a:cs typeface="Times New Roman" panose="02020603050405020304" pitchFamily="18" charset="0"/>
              </a:rPr>
              <a:t> project involves exploring, cleaning, and </a:t>
            </a:r>
            <a:r>
              <a:rPr lang="en-IN" sz="2000" dirty="0" err="1">
                <a:latin typeface="Times New Roman" panose="02020603050405020304" pitchFamily="18" charset="0"/>
                <a:cs typeface="Times New Roman" panose="02020603050405020304" pitchFamily="18" charset="0"/>
              </a:rPr>
              <a:t>analyzing</a:t>
            </a:r>
            <a:r>
              <a:rPr lang="en-IN" sz="2000" dirty="0">
                <a:latin typeface="Times New Roman" panose="02020603050405020304" pitchFamily="18" charset="0"/>
                <a:cs typeface="Times New Roman" panose="02020603050405020304" pitchFamily="18" charset="0"/>
              </a:rPr>
              <a:t> the dataset to identify meaningful seasonal patterns, trends, relationships, and variations in agricultural performance. It examines differences in yield, production, resource usage, environmental conditions, and economic outcomes across seasons, while also comparing relevant agricultural categories. Statistical analysis and data visualization techniques are used to interpret the observed patterns and identify significant or unusual findings. The analysis aims to generate evidence-based insights and recommendations that can support better understanding and planning of seasonal agricultural activities. </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703628"/>
            <a:ext cx="5950029" cy="3120299"/>
          </a:xfrm>
        </p:spPr>
        <p:txBody>
          <a:bodyPr>
            <a:noAutofit/>
          </a:bodyPr>
          <a:lstStyle/>
          <a:p>
            <a:pPr>
              <a:lnSpc>
                <a:spcPct val="120000"/>
              </a:lnSpc>
              <a:buClr>
                <a:schemeClr val="tx1"/>
              </a:buClr>
            </a:pPr>
            <a:r>
              <a:rPr lang="en-IN" dirty="0">
                <a:solidFill>
                  <a:schemeClr val="tx1"/>
                </a:solidFill>
                <a:latin typeface="Times New Roman" panose="02020603050405020304" pitchFamily="18" charset="0"/>
                <a:cs typeface="Times New Roman" panose="02020603050405020304" pitchFamily="18" charset="0"/>
              </a:rPr>
              <a:t>Farmers</a:t>
            </a:r>
          </a:p>
          <a:p>
            <a:pPr>
              <a:lnSpc>
                <a:spcPct val="120000"/>
              </a:lnSpc>
              <a:buClr>
                <a:schemeClr val="tx1"/>
              </a:buClr>
            </a:pPr>
            <a:r>
              <a:rPr lang="en-IN" dirty="0">
                <a:solidFill>
                  <a:schemeClr val="tx1"/>
                </a:solidFill>
                <a:latin typeface="Times New Roman" panose="02020603050405020304" pitchFamily="18" charset="0"/>
                <a:cs typeface="Times New Roman" panose="02020603050405020304" pitchFamily="18" charset="0"/>
              </a:rPr>
              <a:t>Agricultural Planners</a:t>
            </a:r>
          </a:p>
          <a:p>
            <a:pPr>
              <a:lnSpc>
                <a:spcPct val="120000"/>
              </a:lnSpc>
              <a:buClr>
                <a:schemeClr val="tx1"/>
              </a:buClr>
            </a:pPr>
            <a:r>
              <a:rPr lang="en-IN" dirty="0">
                <a:solidFill>
                  <a:schemeClr val="tx1"/>
                </a:solidFill>
                <a:latin typeface="Times New Roman" panose="02020603050405020304" pitchFamily="18" charset="0"/>
                <a:cs typeface="Times New Roman" panose="02020603050405020304" pitchFamily="18" charset="0"/>
              </a:rPr>
              <a:t>Researchers</a:t>
            </a:r>
          </a:p>
          <a:p>
            <a:pPr>
              <a:lnSpc>
                <a:spcPct val="120000"/>
              </a:lnSpc>
              <a:buClr>
                <a:schemeClr val="tx1"/>
              </a:buClr>
            </a:pPr>
            <a:r>
              <a:rPr lang="en-IN" dirty="0">
                <a:solidFill>
                  <a:schemeClr val="tx1"/>
                </a:solidFill>
                <a:latin typeface="Times New Roman" panose="02020603050405020304" pitchFamily="18" charset="0"/>
                <a:cs typeface="Times New Roman" panose="02020603050405020304" pitchFamily="18" charset="0"/>
              </a:rPr>
              <a:t>Policymakers</a:t>
            </a:r>
          </a:p>
          <a:p>
            <a:pPr>
              <a:lnSpc>
                <a:spcPct val="120000"/>
              </a:lnSpc>
              <a:buClr>
                <a:schemeClr val="tx1"/>
              </a:buClr>
            </a:pPr>
            <a:r>
              <a:rPr lang="en-IN" dirty="0">
                <a:solidFill>
                  <a:schemeClr val="tx1"/>
                </a:solidFill>
                <a:latin typeface="Times New Roman" panose="02020603050405020304" pitchFamily="18" charset="0"/>
                <a:cs typeface="Times New Roman" panose="02020603050405020304" pitchFamily="18" charset="0"/>
              </a:rPr>
              <a:t>Agricultural Organizations</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latin typeface="Times New Roman" panose="02020603050405020304" pitchFamily="18" charset="0"/>
                <a:cs typeface="Times New Roman" panose="02020603050405020304" pitchFamily="18" charset="0"/>
              </a:rPr>
              <a:t>WHO ARE THE END USERS?</a:t>
            </a:r>
            <a:endParaRPr lang="en-IN" sz="20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latin typeface="Times New Roman" panose="02020603050405020304" pitchFamily="18" charset="0"/>
                <a:cs typeface="Times New Roman" panose="02020603050405020304" pitchFamily="18" charset="0"/>
              </a:rPr>
              <a:t>Technology Used</a:t>
            </a:r>
          </a:p>
        </p:txBody>
      </p:sp>
      <p:graphicFrame>
        <p:nvGraphicFramePr>
          <p:cNvPr id="5" name="Table 4">
            <a:extLst>
              <a:ext uri="{FF2B5EF4-FFF2-40B4-BE49-F238E27FC236}">
                <a16:creationId xmlns:a16="http://schemas.microsoft.com/office/drawing/2014/main" id="{2A6A41E7-BE92-223F-42DE-4954851EF8CD}"/>
              </a:ext>
            </a:extLst>
          </p:cNvPr>
          <p:cNvGraphicFramePr>
            <a:graphicFrameLocks noGrp="1"/>
          </p:cNvGraphicFramePr>
          <p:nvPr>
            <p:extLst>
              <p:ext uri="{D42A27DB-BD31-4B8C-83A1-F6EECF244321}">
                <p14:modId xmlns:p14="http://schemas.microsoft.com/office/powerpoint/2010/main" val="2062204055"/>
              </p:ext>
            </p:extLst>
          </p:nvPr>
        </p:nvGraphicFramePr>
        <p:xfrm>
          <a:off x="660399" y="1526644"/>
          <a:ext cx="7688426" cy="3456880"/>
        </p:xfrm>
        <a:graphic>
          <a:graphicData uri="http://schemas.openxmlformats.org/drawingml/2006/table">
            <a:tbl>
              <a:tblPr>
                <a:tableStyleId>{5DA37D80-6434-44D0-A028-1B22A696006F}</a:tableStyleId>
              </a:tblPr>
              <a:tblGrid>
                <a:gridCol w="3844213">
                  <a:extLst>
                    <a:ext uri="{9D8B030D-6E8A-4147-A177-3AD203B41FA5}">
                      <a16:colId xmlns:a16="http://schemas.microsoft.com/office/drawing/2014/main" val="1214723579"/>
                    </a:ext>
                  </a:extLst>
                </a:gridCol>
                <a:gridCol w="3844213">
                  <a:extLst>
                    <a:ext uri="{9D8B030D-6E8A-4147-A177-3AD203B41FA5}">
                      <a16:colId xmlns:a16="http://schemas.microsoft.com/office/drawing/2014/main" val="1917632817"/>
                    </a:ext>
                  </a:extLst>
                </a:gridCol>
              </a:tblGrid>
              <a:tr h="0">
                <a:tc>
                  <a:txBody>
                    <a:bodyPr/>
                    <a:lstStyle/>
                    <a:p>
                      <a:pPr>
                        <a:lnSpc>
                          <a:spcPct val="150000"/>
                        </a:lnSpc>
                        <a:buNone/>
                      </a:pPr>
                      <a:r>
                        <a:rPr lang="en-IN" sz="2000" b="1" dirty="0">
                          <a:latin typeface="Times New Roman" panose="02020603050405020304" pitchFamily="18" charset="0"/>
                          <a:cs typeface="Times New Roman" panose="02020603050405020304" pitchFamily="18" charset="0"/>
                        </a:rPr>
                        <a:t>Technology</a:t>
                      </a:r>
                    </a:p>
                  </a:txBody>
                  <a:tcPr anchor="ctr"/>
                </a:tc>
                <a:tc>
                  <a:txBody>
                    <a:bodyPr/>
                    <a:lstStyle/>
                    <a:p>
                      <a:pPr>
                        <a:lnSpc>
                          <a:spcPct val="150000"/>
                        </a:lnSpc>
                        <a:buNone/>
                      </a:pPr>
                      <a:r>
                        <a:rPr lang="en-IN" sz="2000" b="1" dirty="0">
                          <a:latin typeface="Times New Roman" panose="02020603050405020304" pitchFamily="18" charset="0"/>
                          <a:cs typeface="Times New Roman" panose="02020603050405020304" pitchFamily="18" charset="0"/>
                        </a:rPr>
                        <a:t>Purpose</a:t>
                      </a:r>
                    </a:p>
                  </a:txBody>
                  <a:tcPr anchor="ctr"/>
                </a:tc>
                <a:extLst>
                  <a:ext uri="{0D108BD9-81ED-4DB2-BD59-A6C34878D82A}">
                    <a16:rowId xmlns:a16="http://schemas.microsoft.com/office/drawing/2014/main" val="4141564834"/>
                  </a:ext>
                </a:extLst>
              </a:tr>
              <a:tr h="0">
                <a:tc>
                  <a:txBody>
                    <a:bodyPr/>
                    <a:lstStyle/>
                    <a:p>
                      <a:pPr>
                        <a:lnSpc>
                          <a:spcPct val="150000"/>
                        </a:lnSpc>
                        <a:buNone/>
                      </a:pPr>
                      <a:r>
                        <a:rPr lang="en-IN" sz="2000">
                          <a:latin typeface="Times New Roman" panose="02020603050405020304" pitchFamily="18" charset="0"/>
                          <a:cs typeface="Times New Roman" panose="02020603050405020304" pitchFamily="18" charset="0"/>
                        </a:rPr>
                        <a:t>Python</a:t>
                      </a:r>
                    </a:p>
                  </a:txBody>
                  <a:tcPr anchor="ctr"/>
                </a:tc>
                <a:tc>
                  <a:txBody>
                    <a:bodyPr/>
                    <a:lstStyle/>
                    <a:p>
                      <a:pPr>
                        <a:lnSpc>
                          <a:spcPct val="150000"/>
                        </a:lnSpc>
                        <a:buNone/>
                      </a:pPr>
                      <a:r>
                        <a:rPr lang="en-IN" sz="2000">
                          <a:latin typeface="Times New Roman" panose="02020603050405020304" pitchFamily="18" charset="0"/>
                          <a:cs typeface="Times New Roman" panose="02020603050405020304" pitchFamily="18" charset="0"/>
                        </a:rPr>
                        <a:t>Data analysis and processing</a:t>
                      </a:r>
                    </a:p>
                  </a:txBody>
                  <a:tcPr anchor="ctr"/>
                </a:tc>
                <a:extLst>
                  <a:ext uri="{0D108BD9-81ED-4DB2-BD59-A6C34878D82A}">
                    <a16:rowId xmlns:a16="http://schemas.microsoft.com/office/drawing/2014/main" val="3059850893"/>
                  </a:ext>
                </a:extLst>
              </a:tr>
              <a:tr h="0">
                <a:tc>
                  <a:txBody>
                    <a:bodyPr/>
                    <a:lstStyle/>
                    <a:p>
                      <a:pPr>
                        <a:lnSpc>
                          <a:spcPct val="150000"/>
                        </a:lnSpc>
                        <a:buNone/>
                      </a:pPr>
                      <a:r>
                        <a:rPr lang="en-IN" sz="2000" dirty="0">
                          <a:latin typeface="Times New Roman" panose="02020603050405020304" pitchFamily="18" charset="0"/>
                          <a:cs typeface="Times New Roman" panose="02020603050405020304" pitchFamily="18" charset="0"/>
                        </a:rPr>
                        <a:t>Google </a:t>
                      </a:r>
                      <a:r>
                        <a:rPr lang="en-IN" sz="2000" dirty="0" err="1">
                          <a:latin typeface="Times New Roman" panose="02020603050405020304" pitchFamily="18" charset="0"/>
                          <a:cs typeface="Times New Roman" panose="02020603050405020304" pitchFamily="18" charset="0"/>
                        </a:rPr>
                        <a:t>Colab</a:t>
                      </a:r>
                      <a:endParaRPr lang="en-IN" sz="2000" dirty="0">
                        <a:latin typeface="Times New Roman" panose="02020603050405020304" pitchFamily="18" charset="0"/>
                        <a:cs typeface="Times New Roman" panose="02020603050405020304" pitchFamily="18" charset="0"/>
                      </a:endParaRPr>
                    </a:p>
                  </a:txBody>
                  <a:tcPr anchor="ctr"/>
                </a:tc>
                <a:tc>
                  <a:txBody>
                    <a:bodyPr/>
                    <a:lstStyle/>
                    <a:p>
                      <a:pPr>
                        <a:lnSpc>
                          <a:spcPct val="150000"/>
                        </a:lnSpc>
                        <a:buNone/>
                      </a:pPr>
                      <a:r>
                        <a:rPr lang="en-IN" sz="2000">
                          <a:latin typeface="Times New Roman" panose="02020603050405020304" pitchFamily="18" charset="0"/>
                          <a:cs typeface="Times New Roman" panose="02020603050405020304" pitchFamily="18" charset="0"/>
                        </a:rPr>
                        <a:t>Development and execution</a:t>
                      </a:r>
                    </a:p>
                  </a:txBody>
                  <a:tcPr anchor="ctr"/>
                </a:tc>
                <a:extLst>
                  <a:ext uri="{0D108BD9-81ED-4DB2-BD59-A6C34878D82A}">
                    <a16:rowId xmlns:a16="http://schemas.microsoft.com/office/drawing/2014/main" val="383141543"/>
                  </a:ext>
                </a:extLst>
              </a:tr>
              <a:tr h="0">
                <a:tc>
                  <a:txBody>
                    <a:bodyPr/>
                    <a:lstStyle/>
                    <a:p>
                      <a:pPr>
                        <a:lnSpc>
                          <a:spcPct val="150000"/>
                        </a:lnSpc>
                        <a:buNone/>
                      </a:pPr>
                      <a:r>
                        <a:rPr lang="en-IN" sz="2000" dirty="0">
                          <a:latin typeface="Times New Roman" panose="02020603050405020304" pitchFamily="18" charset="0"/>
                          <a:cs typeface="Times New Roman" panose="02020603050405020304" pitchFamily="18" charset="0"/>
                        </a:rPr>
                        <a:t>Pandas &amp; NumPy</a:t>
                      </a:r>
                    </a:p>
                  </a:txBody>
                  <a:tcPr anchor="ctr"/>
                </a:tc>
                <a:tc>
                  <a:txBody>
                    <a:bodyPr/>
                    <a:lstStyle/>
                    <a:p>
                      <a:pPr>
                        <a:lnSpc>
                          <a:spcPct val="150000"/>
                        </a:lnSpc>
                        <a:buNone/>
                      </a:pPr>
                      <a:r>
                        <a:rPr lang="en-IN" sz="2000">
                          <a:latin typeface="Times New Roman" panose="02020603050405020304" pitchFamily="18" charset="0"/>
                          <a:cs typeface="Times New Roman" panose="02020603050405020304" pitchFamily="18" charset="0"/>
                        </a:rPr>
                        <a:t>Data cleaning and manipulation</a:t>
                      </a:r>
                    </a:p>
                  </a:txBody>
                  <a:tcPr anchor="ctr"/>
                </a:tc>
                <a:extLst>
                  <a:ext uri="{0D108BD9-81ED-4DB2-BD59-A6C34878D82A}">
                    <a16:rowId xmlns:a16="http://schemas.microsoft.com/office/drawing/2014/main" val="783570454"/>
                  </a:ext>
                </a:extLst>
              </a:tr>
              <a:tr h="0">
                <a:tc>
                  <a:txBody>
                    <a:bodyPr/>
                    <a:lstStyle/>
                    <a:p>
                      <a:pPr>
                        <a:lnSpc>
                          <a:spcPct val="150000"/>
                        </a:lnSpc>
                        <a:buNone/>
                      </a:pPr>
                      <a:r>
                        <a:rPr lang="en-IN" sz="2000" dirty="0">
                          <a:latin typeface="Times New Roman" panose="02020603050405020304" pitchFamily="18" charset="0"/>
                          <a:cs typeface="Times New Roman" panose="02020603050405020304" pitchFamily="18" charset="0"/>
                        </a:rPr>
                        <a:t>Matplotlib &amp; Seaborn</a:t>
                      </a:r>
                    </a:p>
                  </a:txBody>
                  <a:tcPr anchor="ctr"/>
                </a:tc>
                <a:tc>
                  <a:txBody>
                    <a:bodyPr/>
                    <a:lstStyle/>
                    <a:p>
                      <a:pPr>
                        <a:lnSpc>
                          <a:spcPct val="150000"/>
                        </a:lnSpc>
                        <a:buNone/>
                      </a:pPr>
                      <a:r>
                        <a:rPr lang="en-IN" sz="2000">
                          <a:latin typeface="Times New Roman" panose="02020603050405020304" pitchFamily="18" charset="0"/>
                          <a:cs typeface="Times New Roman" panose="02020603050405020304" pitchFamily="18" charset="0"/>
                        </a:rPr>
                        <a:t>Data visualization</a:t>
                      </a:r>
                    </a:p>
                  </a:txBody>
                  <a:tcPr anchor="ctr"/>
                </a:tc>
                <a:extLst>
                  <a:ext uri="{0D108BD9-81ED-4DB2-BD59-A6C34878D82A}">
                    <a16:rowId xmlns:a16="http://schemas.microsoft.com/office/drawing/2014/main" val="2224830220"/>
                  </a:ext>
                </a:extLst>
              </a:tr>
              <a:tr h="0">
                <a:tc>
                  <a:txBody>
                    <a:bodyPr/>
                    <a:lstStyle/>
                    <a:p>
                      <a:pPr>
                        <a:lnSpc>
                          <a:spcPct val="150000"/>
                        </a:lnSpc>
                        <a:buNone/>
                      </a:pPr>
                      <a:r>
                        <a:rPr lang="en-IN" sz="2000" dirty="0">
                          <a:latin typeface="Times New Roman" panose="02020603050405020304" pitchFamily="18" charset="0"/>
                          <a:cs typeface="Times New Roman" panose="02020603050405020304" pitchFamily="18" charset="0"/>
                        </a:rPr>
                        <a:t>SciPy</a:t>
                      </a:r>
                    </a:p>
                  </a:txBody>
                  <a:tcPr anchor="ctr"/>
                </a:tc>
                <a:tc>
                  <a:txBody>
                    <a:bodyPr/>
                    <a:lstStyle/>
                    <a:p>
                      <a:pPr>
                        <a:lnSpc>
                          <a:spcPct val="150000"/>
                        </a:lnSpc>
                        <a:buNone/>
                      </a:pPr>
                      <a:r>
                        <a:rPr lang="en-IN" sz="2000">
                          <a:latin typeface="Times New Roman" panose="02020603050405020304" pitchFamily="18" charset="0"/>
                          <a:cs typeface="Times New Roman" panose="02020603050405020304" pitchFamily="18" charset="0"/>
                        </a:rPr>
                        <a:t>Statistical analysis</a:t>
                      </a:r>
                    </a:p>
                  </a:txBody>
                  <a:tcPr anchor="ctr"/>
                </a:tc>
                <a:extLst>
                  <a:ext uri="{0D108BD9-81ED-4DB2-BD59-A6C34878D82A}">
                    <a16:rowId xmlns:a16="http://schemas.microsoft.com/office/drawing/2014/main" val="18305352"/>
                  </a:ext>
                </a:extLst>
              </a:tr>
              <a:tr h="0">
                <a:tc>
                  <a:txBody>
                    <a:bodyPr/>
                    <a:lstStyle/>
                    <a:p>
                      <a:pPr>
                        <a:lnSpc>
                          <a:spcPct val="150000"/>
                        </a:lnSpc>
                        <a:buNone/>
                      </a:pPr>
                      <a:r>
                        <a:rPr lang="en-IN" sz="2000" dirty="0">
                          <a:latin typeface="Times New Roman" panose="02020603050405020304" pitchFamily="18" charset="0"/>
                          <a:cs typeface="Times New Roman" panose="02020603050405020304" pitchFamily="18" charset="0"/>
                        </a:rPr>
                        <a:t>CSV</a:t>
                      </a:r>
                    </a:p>
                  </a:txBody>
                  <a:tcPr anchor="ctr"/>
                </a:tc>
                <a:tc>
                  <a:txBody>
                    <a:bodyPr/>
                    <a:lstStyle/>
                    <a:p>
                      <a:pPr>
                        <a:lnSpc>
                          <a:spcPct val="150000"/>
                        </a:lnSpc>
                        <a:buNone/>
                      </a:pPr>
                      <a:r>
                        <a:rPr lang="en-IN" sz="2000" dirty="0">
                          <a:latin typeface="Times New Roman" panose="02020603050405020304" pitchFamily="18" charset="0"/>
                          <a:cs typeface="Times New Roman" panose="02020603050405020304" pitchFamily="18" charset="0"/>
                        </a:rPr>
                        <a:t>Agricultural dataset format</a:t>
                      </a:r>
                    </a:p>
                  </a:txBody>
                  <a:tcPr anchor="ctr"/>
                </a:tc>
                <a:extLst>
                  <a:ext uri="{0D108BD9-81ED-4DB2-BD59-A6C34878D82A}">
                    <a16:rowId xmlns:a16="http://schemas.microsoft.com/office/drawing/2014/main" val="3525633993"/>
                  </a:ext>
                </a:extLst>
              </a:tr>
            </a:tbl>
          </a:graphicData>
        </a:graphic>
      </p:graphicFrame>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251334"/>
            <a:ext cx="2981643" cy="830997"/>
          </a:xfrm>
        </p:spPr>
        <p:txBody>
          <a:bodyPr>
            <a:normAutofit/>
          </a:bodyPr>
          <a:lstStyle/>
          <a:p>
            <a:r>
              <a:rPr lang="en-GB" dirty="0">
                <a:latin typeface="Times New Roman" panose="02020603050405020304" pitchFamily="18" charset="0"/>
                <a:cs typeface="Times New Roman" panose="02020603050405020304" pitchFamily="18" charset="0"/>
              </a:rPr>
              <a:t>RESULTS </a:t>
            </a:r>
            <a:endParaRPr lang="en-IN"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47938E72-45CA-3728-A050-8AB18D071151}"/>
              </a:ext>
            </a:extLst>
          </p:cNvPr>
          <p:cNvPicPr>
            <a:picLocks noChangeAspect="1"/>
          </p:cNvPicPr>
          <p:nvPr/>
        </p:nvPicPr>
        <p:blipFill>
          <a:blip r:embed="rId3"/>
          <a:stretch>
            <a:fillRect/>
          </a:stretch>
        </p:blipFill>
        <p:spPr>
          <a:xfrm>
            <a:off x="854545" y="1150858"/>
            <a:ext cx="7168910" cy="4425705"/>
          </a:xfrm>
          <a:prstGeom prst="rect">
            <a:avLst/>
          </a:prstGeom>
          <a:ln>
            <a:solidFill>
              <a:schemeClr val="tx1"/>
            </a:solidFill>
          </a:ln>
        </p:spPr>
      </p:pic>
      <p:sp>
        <p:nvSpPr>
          <p:cNvPr id="6" name="TextBox 5">
            <a:extLst>
              <a:ext uri="{FF2B5EF4-FFF2-40B4-BE49-F238E27FC236}">
                <a16:creationId xmlns:a16="http://schemas.microsoft.com/office/drawing/2014/main" id="{CAEB6FAA-FDE5-54F6-672E-BDB4F5936CB9}"/>
              </a:ext>
            </a:extLst>
          </p:cNvPr>
          <p:cNvSpPr txBox="1"/>
          <p:nvPr/>
        </p:nvSpPr>
        <p:spPr>
          <a:xfrm>
            <a:off x="320982" y="5701076"/>
            <a:ext cx="9028291" cy="646331"/>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Explanation: </a:t>
            </a:r>
            <a:r>
              <a:rPr lang="en-IN" dirty="0">
                <a:latin typeface="Times New Roman" panose="02020603050405020304" pitchFamily="18" charset="0"/>
                <a:cs typeface="Times New Roman" panose="02020603050405020304" pitchFamily="18" charset="0"/>
              </a:rPr>
              <a:t>Kharif has the highest yield (5.64 tonnes/ha), followed by Rabi (5.08) and Zaid (4.67). This shows that Kharif has the best overall agricultural productivity.</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267211"/>
            <a:ext cx="2981643" cy="830997"/>
          </a:xfrm>
        </p:spPr>
        <p:txBody>
          <a:bodyPr>
            <a:normAutofit/>
          </a:bodyPr>
          <a:lstStyle/>
          <a:p>
            <a:r>
              <a:rPr lang="en-GB" dirty="0">
                <a:latin typeface="Times New Roman" panose="02020603050405020304" pitchFamily="18" charset="0"/>
                <a:cs typeface="Times New Roman" panose="02020603050405020304" pitchFamily="18" charset="0"/>
              </a:rPr>
              <a:t>RESULTS </a:t>
            </a:r>
            <a:endParaRPr lang="en-IN"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A990CC1F-027F-DB13-7B97-08D4C9D1CD0A}"/>
              </a:ext>
            </a:extLst>
          </p:cNvPr>
          <p:cNvPicPr>
            <a:picLocks noChangeAspect="1"/>
          </p:cNvPicPr>
          <p:nvPr/>
        </p:nvPicPr>
        <p:blipFill>
          <a:blip r:embed="rId3"/>
          <a:stretch>
            <a:fillRect/>
          </a:stretch>
        </p:blipFill>
        <p:spPr>
          <a:xfrm>
            <a:off x="675957" y="1275371"/>
            <a:ext cx="8059910" cy="3975497"/>
          </a:xfrm>
          <a:prstGeom prst="rect">
            <a:avLst/>
          </a:prstGeom>
          <a:ln>
            <a:solidFill>
              <a:schemeClr val="tx1"/>
            </a:solidFill>
          </a:ln>
        </p:spPr>
      </p:pic>
      <p:sp>
        <p:nvSpPr>
          <p:cNvPr id="11" name="TextBox 10">
            <a:extLst>
              <a:ext uri="{FF2B5EF4-FFF2-40B4-BE49-F238E27FC236}">
                <a16:creationId xmlns:a16="http://schemas.microsoft.com/office/drawing/2014/main" id="{67155D7A-9EC1-2EB6-4FA7-D0132C5D93C5}"/>
              </a:ext>
            </a:extLst>
          </p:cNvPr>
          <p:cNvSpPr txBox="1"/>
          <p:nvPr/>
        </p:nvSpPr>
        <p:spPr>
          <a:xfrm>
            <a:off x="675957" y="5613027"/>
            <a:ext cx="8682647" cy="646331"/>
          </a:xfrm>
          <a:prstGeom prst="rect">
            <a:avLst/>
          </a:prstGeom>
          <a:noFill/>
        </p:spPr>
        <p:txBody>
          <a:bodyPr wrap="square">
            <a:spAutoFit/>
          </a:bodyPr>
          <a:lstStyle/>
          <a:p>
            <a:pPr>
              <a:buNone/>
            </a:pPr>
            <a:r>
              <a:rPr lang="en-IN" b="1" dirty="0">
                <a:latin typeface="Times New Roman" panose="02020603050405020304" pitchFamily="18" charset="0"/>
                <a:cs typeface="Times New Roman" panose="02020603050405020304" pitchFamily="18" charset="0"/>
              </a:rPr>
              <a:t>Explanation: </a:t>
            </a:r>
            <a:r>
              <a:rPr lang="en-IN" dirty="0">
                <a:latin typeface="Times New Roman" panose="02020603050405020304" pitchFamily="18" charset="0"/>
                <a:cs typeface="Times New Roman" panose="02020603050405020304" pitchFamily="18" charset="0"/>
              </a:rPr>
              <a:t>Environmental conditions vary by season, with Kharif having the highest rainfall and humidity, while Zaid has the lowest rainfall and soil moisture.</a:t>
            </a:r>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285372"/>
            <a:ext cx="2981643" cy="830997"/>
          </a:xfrm>
        </p:spPr>
        <p:txBody>
          <a:bodyPr>
            <a:normAutofit/>
          </a:bodyPr>
          <a:lstStyle/>
          <a:p>
            <a:r>
              <a:rPr lang="en-GB" dirty="0">
                <a:latin typeface="Times New Roman" panose="02020603050405020304" pitchFamily="18" charset="0"/>
                <a:cs typeface="Times New Roman" panose="02020603050405020304" pitchFamily="18" charset="0"/>
              </a:rPr>
              <a:t>RESULTS </a:t>
            </a:r>
            <a:endParaRPr lang="en-IN"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411A146C-E1E8-C0F9-2371-7D051D422C1C}"/>
              </a:ext>
            </a:extLst>
          </p:cNvPr>
          <p:cNvPicPr>
            <a:picLocks noChangeAspect="1"/>
          </p:cNvPicPr>
          <p:nvPr/>
        </p:nvPicPr>
        <p:blipFill>
          <a:blip r:embed="rId3"/>
          <a:stretch>
            <a:fillRect/>
          </a:stretch>
        </p:blipFill>
        <p:spPr>
          <a:xfrm>
            <a:off x="675957" y="1222145"/>
            <a:ext cx="7964190" cy="4360484"/>
          </a:xfrm>
          <a:prstGeom prst="rect">
            <a:avLst/>
          </a:prstGeom>
          <a:ln>
            <a:solidFill>
              <a:schemeClr val="tx1"/>
            </a:solidFill>
          </a:ln>
        </p:spPr>
      </p:pic>
      <p:sp>
        <p:nvSpPr>
          <p:cNvPr id="11" name="TextBox 10">
            <a:extLst>
              <a:ext uri="{FF2B5EF4-FFF2-40B4-BE49-F238E27FC236}">
                <a16:creationId xmlns:a16="http://schemas.microsoft.com/office/drawing/2014/main" id="{1182FF79-5820-F04C-7286-0708B43372CB}"/>
              </a:ext>
            </a:extLst>
          </p:cNvPr>
          <p:cNvSpPr txBox="1"/>
          <p:nvPr/>
        </p:nvSpPr>
        <p:spPr>
          <a:xfrm>
            <a:off x="458701" y="5741630"/>
            <a:ext cx="8862580" cy="923330"/>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Explanation:</a:t>
            </a:r>
            <a:r>
              <a:rPr lang="en-IN" dirty="0">
                <a:latin typeface="Times New Roman" panose="02020603050405020304" pitchFamily="18" charset="0"/>
                <a:cs typeface="Times New Roman" panose="02020603050405020304" pitchFamily="18" charset="0"/>
              </a:rPr>
              <a:t> Drip irrigation has the highest average yield at </a:t>
            </a:r>
            <a:r>
              <a:rPr lang="en-IN" b="1" dirty="0">
                <a:latin typeface="Times New Roman" panose="02020603050405020304" pitchFamily="18" charset="0"/>
                <a:cs typeface="Times New Roman" panose="02020603050405020304" pitchFamily="18" charset="0"/>
              </a:rPr>
              <a:t>6.62 tonnes/ha</a:t>
            </a:r>
            <a:r>
              <a:rPr lang="en-IN" dirty="0">
                <a:latin typeface="Times New Roman" panose="02020603050405020304" pitchFamily="18" charset="0"/>
                <a:cs typeface="Times New Roman" panose="02020603050405020304" pitchFamily="18" charset="0"/>
              </a:rPr>
              <a:t>, followed by Sprinkler (5.19), Flood (4.85), and Rainfed (4.61). This shows better yield performance with drip irrigation.</a:t>
            </a:r>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82900" y="113622"/>
            <a:ext cx="2981643" cy="830997"/>
          </a:xfrm>
        </p:spPr>
        <p:txBody>
          <a:bodyPr>
            <a:normAutofit/>
          </a:bodyPr>
          <a:lstStyle/>
          <a:p>
            <a:r>
              <a:rPr lang="en-GB" dirty="0">
                <a:latin typeface="Times New Roman" panose="02020603050405020304" pitchFamily="18" charset="0"/>
                <a:cs typeface="Times New Roman" panose="02020603050405020304" pitchFamily="18" charset="0"/>
              </a:rPr>
              <a:t>RESULTS</a:t>
            </a:r>
            <a:r>
              <a:rPr lang="en-GB" dirty="0"/>
              <a:t>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A90B3DFA-BA18-D1BB-2FA3-48820E16A21A}"/>
              </a:ext>
            </a:extLst>
          </p:cNvPr>
          <p:cNvPicPr>
            <a:picLocks noChangeAspect="1"/>
          </p:cNvPicPr>
          <p:nvPr/>
        </p:nvPicPr>
        <p:blipFill>
          <a:blip r:embed="rId3"/>
          <a:stretch>
            <a:fillRect/>
          </a:stretch>
        </p:blipFill>
        <p:spPr>
          <a:xfrm>
            <a:off x="682900" y="1053001"/>
            <a:ext cx="7844559" cy="4529627"/>
          </a:xfrm>
          <a:prstGeom prst="rect">
            <a:avLst/>
          </a:prstGeom>
          <a:ln>
            <a:solidFill>
              <a:schemeClr val="tx1"/>
            </a:solidFill>
          </a:ln>
        </p:spPr>
      </p:pic>
      <p:sp>
        <p:nvSpPr>
          <p:cNvPr id="11" name="TextBox 10">
            <a:extLst>
              <a:ext uri="{FF2B5EF4-FFF2-40B4-BE49-F238E27FC236}">
                <a16:creationId xmlns:a16="http://schemas.microsoft.com/office/drawing/2014/main" id="{ADCFBDC9-82D2-70E2-77B9-DF4A2ECAF387}"/>
              </a:ext>
            </a:extLst>
          </p:cNvPr>
          <p:cNvSpPr txBox="1"/>
          <p:nvPr/>
        </p:nvSpPr>
        <p:spPr>
          <a:xfrm>
            <a:off x="442693" y="5717207"/>
            <a:ext cx="8897250" cy="646331"/>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Explanation:</a:t>
            </a:r>
            <a:r>
              <a:rPr lang="en-IN" dirty="0">
                <a:latin typeface="Times New Roman" panose="02020603050405020304" pitchFamily="18" charset="0"/>
                <a:cs typeface="Times New Roman" panose="02020603050405020304" pitchFamily="18" charset="0"/>
              </a:rPr>
              <a:t> Sugarcane has the highest average profit, followed by Chilli and Cotton. Wheat, Rice, and Maize show negative average profits, indicating lower profitability.</a:t>
            </a:r>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82900" y="179018"/>
            <a:ext cx="2981643" cy="830997"/>
          </a:xfrm>
        </p:spPr>
        <p:txBody>
          <a:bodyPr>
            <a:normAutofit/>
          </a:bodyPr>
          <a:lstStyle/>
          <a:p>
            <a:r>
              <a:rPr lang="en-GB" dirty="0">
                <a:latin typeface="Times New Roman" panose="02020603050405020304" pitchFamily="18" charset="0"/>
                <a:cs typeface="Times New Roman" panose="02020603050405020304" pitchFamily="18" charset="0"/>
              </a:rPr>
              <a:t>RESULTS</a:t>
            </a:r>
            <a:r>
              <a:rPr lang="en-GB" dirty="0"/>
              <a:t>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6709CB8B-356E-F7BC-FD43-C280EC89FFC5}"/>
              </a:ext>
            </a:extLst>
          </p:cNvPr>
          <p:cNvPicPr>
            <a:picLocks noChangeAspect="1"/>
          </p:cNvPicPr>
          <p:nvPr/>
        </p:nvPicPr>
        <p:blipFill>
          <a:blip r:embed="rId3"/>
          <a:stretch>
            <a:fillRect/>
          </a:stretch>
        </p:blipFill>
        <p:spPr>
          <a:xfrm>
            <a:off x="1179909" y="1098467"/>
            <a:ext cx="5939348" cy="4484162"/>
          </a:xfrm>
          <a:prstGeom prst="rect">
            <a:avLst/>
          </a:prstGeom>
          <a:ln>
            <a:solidFill>
              <a:schemeClr val="tx1"/>
            </a:solidFill>
          </a:ln>
        </p:spPr>
      </p:pic>
      <p:sp>
        <p:nvSpPr>
          <p:cNvPr id="12" name="TextBox 11">
            <a:extLst>
              <a:ext uri="{FF2B5EF4-FFF2-40B4-BE49-F238E27FC236}">
                <a16:creationId xmlns:a16="http://schemas.microsoft.com/office/drawing/2014/main" id="{7264EF05-CB73-FCA8-F547-DF78E749A97C}"/>
              </a:ext>
            </a:extLst>
          </p:cNvPr>
          <p:cNvSpPr txBox="1"/>
          <p:nvPr/>
        </p:nvSpPr>
        <p:spPr>
          <a:xfrm>
            <a:off x="675957" y="5741630"/>
            <a:ext cx="8701308" cy="923330"/>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Explanation: </a:t>
            </a:r>
            <a:r>
              <a:rPr lang="en-IN" dirty="0">
                <a:latin typeface="Times New Roman" panose="02020603050405020304" pitchFamily="18" charset="0"/>
                <a:cs typeface="Times New Roman" panose="02020603050405020304" pitchFamily="18" charset="0"/>
              </a:rPr>
              <a:t>The heatmap shows relationships between agricultural variables. Yield has a strong positive correlation with water efficiency (0.91) and production (0.88), while profit is strongly related to revenue (0.89).</a:t>
            </a:r>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latin typeface="Times New Roman" panose="02020603050405020304" pitchFamily="18" charset="0"/>
                <a:cs typeface="Times New Roman" panose="02020603050405020304" pitchFamily="18" charset="0"/>
              </a:rPr>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TextBox 5">
            <a:extLst>
              <a:ext uri="{FF2B5EF4-FFF2-40B4-BE49-F238E27FC236}">
                <a16:creationId xmlns:a16="http://schemas.microsoft.com/office/drawing/2014/main" id="{515106B1-1364-113D-7D3C-2EA785125191}"/>
              </a:ext>
            </a:extLst>
          </p:cNvPr>
          <p:cNvSpPr txBox="1"/>
          <p:nvPr/>
        </p:nvSpPr>
        <p:spPr>
          <a:xfrm>
            <a:off x="675957" y="1275371"/>
            <a:ext cx="6014092" cy="3730317"/>
          </a:xfrm>
          <a:prstGeom prst="rect">
            <a:avLst/>
          </a:prstGeom>
          <a:noFill/>
        </p:spPr>
        <p:txBody>
          <a:bodyPr wrap="square">
            <a:spAutoFit/>
          </a:bodyPr>
          <a:lstStyle/>
          <a:p>
            <a:pPr marL="285750" lvl="0" indent="-285750">
              <a:lnSpc>
                <a:spcPct val="150000"/>
              </a:lnSpc>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Develop season-wise predictive models for crop yield and profit.</a:t>
            </a:r>
          </a:p>
          <a:p>
            <a:pPr marL="285750" lvl="0" indent="-285750">
              <a:lnSpc>
                <a:spcPct val="150000"/>
              </a:lnSpc>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Integrate real-time weather and market data for dynamic analysis.</a:t>
            </a:r>
          </a:p>
          <a:p>
            <a:pPr marL="285750" lvl="0" indent="-285750">
              <a:lnSpc>
                <a:spcPct val="150000"/>
              </a:lnSpc>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Build an interactive dashboard for farmers and agricultural planners.</a:t>
            </a:r>
          </a:p>
          <a:p>
            <a:pPr marL="285750" lvl="0" indent="-285750">
              <a:lnSpc>
                <a:spcPct val="150000"/>
              </a:lnSpc>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Extend the analysis using more regions, crops, and multiple years of data.</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latin typeface="Times New Roman" panose="02020603050405020304" pitchFamily="18" charset="0"/>
                <a:cs typeface="Times New Roman" panose="02020603050405020304" pitchFamily="18" charset="0"/>
              </a:rPr>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295118"/>
            <a:ext cx="7232875" cy="646331"/>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https://github.com/Sushanth-Patel/Seasonal-Agriculture-Performance-Analysis</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latin typeface="Times New Roman" panose="02020603050405020304" pitchFamily="18" charset="0"/>
                <a:cs typeface="Times New Roman" panose="02020603050405020304" pitchFamily="18" charset="0"/>
              </a:rPr>
              <a:t>VOIS Course completion certificate - </a:t>
            </a:r>
            <a:br>
              <a:rPr lang="en-IN" sz="3200" dirty="0">
                <a:latin typeface="Times New Roman" panose="02020603050405020304" pitchFamily="18" charset="0"/>
                <a:cs typeface="Times New Roman" panose="02020603050405020304" pitchFamily="18" charset="0"/>
              </a:rPr>
            </a:br>
            <a:r>
              <a:rPr lang="en-IN" sz="3200" dirty="0">
                <a:latin typeface="Times New Roman" panose="02020603050405020304" pitchFamily="18" charset="0"/>
                <a:cs typeface="Times New Roman" panose="02020603050405020304" pitchFamily="18" charset="0"/>
              </a:rPr>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14620777-A5AF-A016-F363-D56704279A97}"/>
              </a:ext>
            </a:extLst>
          </p:cNvPr>
          <p:cNvPicPr>
            <a:picLocks noChangeAspect="1"/>
          </p:cNvPicPr>
          <p:nvPr/>
        </p:nvPicPr>
        <p:blipFill>
          <a:blip r:embed="rId3"/>
          <a:stretch>
            <a:fillRect/>
          </a:stretch>
        </p:blipFill>
        <p:spPr>
          <a:xfrm>
            <a:off x="797987" y="1469247"/>
            <a:ext cx="7095413" cy="5018164"/>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1548295" y="2782810"/>
            <a:ext cx="8638530" cy="1292380"/>
          </a:xfrm>
          <a:prstGeom prst="rect">
            <a:avLst/>
          </a:prstGeom>
        </p:spPr>
        <p:txBody>
          <a:bodyPr anchor="ctr">
            <a:normAutofit/>
          </a:bodyPr>
          <a:lstStyle/>
          <a:p>
            <a:pPr algn="ctr"/>
            <a:r>
              <a:rPr lang="en-US" sz="4800" b="1" dirty="0">
                <a:solidFill>
                  <a:schemeClr val="tx1"/>
                </a:solidFill>
                <a:latin typeface="Times New Roman" panose="02020603050405020304" pitchFamily="18" charset="0"/>
                <a:cs typeface="Times New Roman" panose="02020603050405020304" pitchFamily="18" charset="0"/>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1572</TotalTime>
  <Words>546</Words>
  <Application>Microsoft Office PowerPoint</Application>
  <PresentationFormat>Widescreen</PresentationFormat>
  <Paragraphs>51</Paragraphs>
  <Slides>14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Times New Roman</vt:lpstr>
      <vt:lpstr>Trebuchet MS</vt:lpstr>
      <vt:lpstr>Wingdings</vt:lpstr>
      <vt:lpstr>Wingdings 3</vt:lpstr>
      <vt:lpstr>Facet</vt:lpstr>
      <vt:lpstr>Seasonal Agriculture Performance Analysis </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Sushanth Patel</cp:lastModifiedBy>
  <cp:revision>101</cp:revision>
  <dcterms:created xsi:type="dcterms:W3CDTF">2021-07-11T13:13:15Z</dcterms:created>
  <dcterms:modified xsi:type="dcterms:W3CDTF">2026-09-07T13:19:03Z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